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0" y="0"/>
            <a:ext cx="64008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548640" y="-548640"/>
            <a:ext cx="2011680" cy="2011680"/>
          </a:xfrm>
          <a:prstGeom prst="ellipse">
            <a:avLst/>
          </a:prstGeom>
          <a:solidFill>
            <a:srgbClr val="2563EB">
              <a:alpha val="25000"/>
            </a:srgbClr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0" y="4114800"/>
            <a:ext cx="1463040" cy="1463040"/>
          </a:xfrm>
          <a:prstGeom prst="ellipse">
            <a:avLst/>
          </a:prstGeom>
          <a:solidFill>
            <a:srgbClr val="38BDF8">
              <a:alpha val="20000"/>
            </a:srgbClr>
          </a:solidFill>
          <a:ln w="12700">
            <a:solidFill>
              <a:srgbClr val="38BDF8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400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IQBRAVE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20040" y="13258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Management System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719072"/>
            <a:ext cx="3108960" cy="27432"/>
          </a:xfrm>
          <a:prstGeom prst="rect">
            <a:avLst/>
          </a:prstGeom>
          <a:solidFill>
            <a:srgbClr val="38BDF8">
              <a:alpha val="60000"/>
            </a:srgbClr>
          </a:solidFill>
          <a:ln w="12700">
            <a:solidFill>
              <a:srgbClr val="38BDF8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9202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H.M.S.J. Herath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26517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Date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March 2026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" y="33375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– 2025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0" y="9144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Progress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114800" y="14173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4114800" y="23774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Analysis &amp; Evaluation Report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114800" y="3200400"/>
            <a:ext cx="2194560" cy="347472"/>
          </a:xfrm>
          <a:prstGeom prst="roundRect">
            <a:avLst>
              <a:gd name="adj" fmla="val 13158"/>
            </a:avLst>
          </a:prstGeom>
          <a:solidFill>
            <a:srgbClr val="1B2B4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0" y="320040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12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537960" y="3200400"/>
            <a:ext cx="2194560" cy="347472"/>
          </a:xfrm>
          <a:prstGeom prst="roundRect">
            <a:avLst>
              <a:gd name="adj" fmla="val 13158"/>
            </a:avLst>
          </a:prstGeom>
          <a:solidFill>
            <a:srgbClr val="1B2B4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320040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8.2+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0" y="3675888"/>
            <a:ext cx="2194560" cy="347472"/>
          </a:xfrm>
          <a:prstGeom prst="roundRect">
            <a:avLst>
              <a:gd name="adj" fmla="val 13158"/>
            </a:avLst>
          </a:prstGeom>
          <a:solidFill>
            <a:srgbClr val="1B2B4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0" y="367588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NVQ Framework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37960" y="3675888"/>
            <a:ext cx="2194560" cy="347472"/>
          </a:xfrm>
          <a:prstGeom prst="roundRect">
            <a:avLst>
              <a:gd name="adj" fmla="val 13158"/>
            </a:avLst>
          </a:prstGeom>
          <a:solidFill>
            <a:srgbClr val="1B2B4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367588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Architecture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0" y="46634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ACADEMIC SUBMISSION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IQBRAVE LMS — Project Progress Presentation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41605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60120"/>
            <a:ext cx="54864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96012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103327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38074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goals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00600" y="960120"/>
            <a:ext cx="41605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0600" y="960120"/>
            <a:ext cx="54864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0328" y="96012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40680" y="103327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40680" y="138074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MVC, tech stack &amp; design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1965960"/>
            <a:ext cx="41605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1965960"/>
            <a:ext cx="54864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" y="196596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60120" y="203911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238658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&amp; workflows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00600" y="1965960"/>
            <a:ext cx="41605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00600" y="1965960"/>
            <a:ext cx="54864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0328" y="196596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440680" y="203911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NVQ Verification Flow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40680" y="238658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Multi-tier assessment process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2971800"/>
            <a:ext cx="41605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2971800"/>
            <a:ext cx="54864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9768" y="297180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60120" y="304495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Testing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60120" y="339242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&amp; QA strategy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00600" y="2971800"/>
            <a:ext cx="41605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00600" y="2971800"/>
            <a:ext cx="54864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0328" y="297180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440680" y="304495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40680" y="339242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&amp; milestones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0040" y="3977640"/>
            <a:ext cx="41605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" y="3977640"/>
            <a:ext cx="54864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9768" y="397764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960120" y="405079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 &amp; Challenges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960120" y="439826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 analysis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00600" y="3977640"/>
            <a:ext cx="41605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00600" y="3977640"/>
            <a:ext cx="54864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10328" y="397764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5440680" y="405079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440680" y="439826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/  EXECUTIVE SUMMARY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1965960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2412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12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152704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Framework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50592" y="960120"/>
            <a:ext cx="196596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50592" y="102412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NVQ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450592" y="152704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Compliant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26864" y="960120"/>
            <a:ext cx="1965960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26864" y="102412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Roles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26864" y="152704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System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03136" y="960120"/>
            <a:ext cx="1965960" cy="10058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03136" y="102412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Phases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803136" y="152704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Plan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217627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IQBRAVE LMS?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5760" y="2542032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IQBRAVE is a bespoke, monolithic MVC web application built on Laravel 12 (PHP 8.2+), engineered specifically for National Vocational Qualification (NVQ) education. Unlike generic LMS platforms, it features a native multi-tier assessment verification workflow that bridges Students, Instructors, and Assessors — ensuring complete NVQ regulatory compliance.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3520440"/>
            <a:ext cx="2743200" cy="1417320"/>
          </a:xfrm>
          <a:prstGeom prst="rect">
            <a:avLst/>
          </a:prstGeom>
          <a:solidFill>
            <a:srgbClr val="DBEAFE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3520440"/>
            <a:ext cx="27432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60273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393192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from scratch for NVQ vocational education — not a generic platform adaptation.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27832" y="3520440"/>
            <a:ext cx="2743200" cy="1417320"/>
          </a:xfrm>
          <a:prstGeom prst="rect">
            <a:avLst/>
          </a:prstGeom>
          <a:solidFill>
            <a:srgbClr val="DBEAFE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27832" y="3520440"/>
            <a:ext cx="27432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27832" y="360273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&amp; RBAC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19272" y="393192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Instructor, Assessor, Student roles with strict middleware-enforced boundaries.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81344" y="3520440"/>
            <a:ext cx="2743200" cy="1417320"/>
          </a:xfrm>
          <a:prstGeom prst="rect">
            <a:avLst/>
          </a:prstGeom>
          <a:solidFill>
            <a:srgbClr val="DBEAFE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81344" y="3520440"/>
            <a:ext cx="27432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81344" y="360273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Auto-Credentialing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72784" y="393192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QR-verified PDF certificates auto-generated on successful multi-tier verification.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/  SYSTEM ARCHITECTURE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960120"/>
          </a:xfrm>
          <a:prstGeom prst="rect">
            <a:avLst/>
          </a:prstGeom>
          <a:solidFill>
            <a:srgbClr val="1E293B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64008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69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LAYER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40817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Eloquent ORM (Active Record)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0" y="118872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logic, database queries, relationships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1938528"/>
            <a:ext cx="54864" cy="274320"/>
          </a:xfrm>
          <a:prstGeom prst="rect">
            <a:avLst/>
          </a:prstGeom>
          <a:solidFill>
            <a:srgbClr val="94A3B8">
              <a:alpha val="50000"/>
            </a:srgbClr>
          </a:solidFill>
          <a:ln w="12700">
            <a:solidFill>
              <a:srgbClr val="94A3B8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194560"/>
            <a:ext cx="8595360" cy="960120"/>
          </a:xfrm>
          <a:prstGeom prst="rect">
            <a:avLst/>
          </a:prstGeom>
          <a:solidFill>
            <a:srgbClr val="1E293B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194560"/>
            <a:ext cx="64008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585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LAYER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259689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Blade + Tailwind CSS + Alpine.js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0" y="237744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Server-rendered HTML, reactive UI, responsive layouts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3127248"/>
            <a:ext cx="54864" cy="274320"/>
          </a:xfrm>
          <a:prstGeom prst="rect">
            <a:avLst/>
          </a:prstGeom>
          <a:solidFill>
            <a:srgbClr val="94A3B8">
              <a:alpha val="50000"/>
            </a:srgbClr>
          </a:solidFill>
          <a:ln w="12700">
            <a:solidFill>
              <a:srgbClr val="94A3B8">
                <a:alpha val="5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3383280"/>
            <a:ext cx="8595360" cy="960120"/>
          </a:xfrm>
          <a:prstGeom prst="rect">
            <a:avLst/>
          </a:prstGeom>
          <a:solidFill>
            <a:srgbClr val="1E293B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383280"/>
            <a:ext cx="64008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4472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LAYER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378561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HTTP Controllers + Middleware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00400" y="356616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routing, RBAC enforcement, data aggregation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4572000"/>
            <a:ext cx="8595360" cy="384048"/>
          </a:xfrm>
          <a:prstGeom prst="rect">
            <a:avLst/>
          </a:prstGeom>
          <a:solidFill>
            <a:srgbClr val="1B2B4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57200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Monolithic Server-Side Rendered (SSR) architecture — prioritises deployment simplicity, developer cohesion, and maintainability over microservice complexity.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/  TECHNOLOGY STACK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69748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269748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430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8.2+ / Laravel 12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172968" y="1005840"/>
            <a:ext cx="269748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72968" y="1005840"/>
            <a:ext cx="269748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72968" y="11430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10128" y="150876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Eloquent ORM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71616" y="1005840"/>
            <a:ext cx="269748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71616" y="1005840"/>
            <a:ext cx="269748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71616" y="11430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08776" y="150876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Alpine.js + Tailwind CSS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2926080"/>
            <a:ext cx="269748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926080"/>
            <a:ext cx="269748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0632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342900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(HMR)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172968" y="2926080"/>
            <a:ext cx="269748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72968" y="2926080"/>
            <a:ext cx="269748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72968" y="30632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10128" y="342900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barryvdh/laravel-dompdf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71616" y="2926080"/>
            <a:ext cx="269748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71616" y="2926080"/>
            <a:ext cx="2697480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71616" y="30632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08776" y="342900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simplesoftwareio/simple-qrcode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  CORE MODULES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54864" cy="7132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475488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97280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0058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RBAC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0" y="1051560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login, Bcrypt hashing, Role-Based Access Control (Admin / Instructor / Assessor / Student)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783080"/>
            <a:ext cx="85953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783080"/>
            <a:ext cx="54864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920240"/>
            <a:ext cx="475488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920240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51560" y="18288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Mgmt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17520" y="1874520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Hierarchical: Courses → Modules → Units → Lessons with NVQ field mapping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606040"/>
            <a:ext cx="85953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606040"/>
            <a:ext cx="54864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743200"/>
            <a:ext cx="475488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743200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51560" y="26517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Engine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017520" y="2697480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Dual-track: Auto-graded quizzes + file-upload assignments with instructor rubric grading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429000"/>
            <a:ext cx="85953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429000"/>
            <a:ext cx="54864" cy="7132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566160"/>
            <a:ext cx="475488" cy="411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566160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51560" y="34747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NVQ Verification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017520" y="3520440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Multi-tier workflow: Pending → Graded → Assessor Reviewed → Verified with audit log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4251960"/>
            <a:ext cx="85953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4251960"/>
            <a:ext cx="54864" cy="7132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4389120"/>
            <a:ext cx="475488" cy="4114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389120"/>
            <a:ext cx="475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51560" y="42976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017520" y="4343400"/>
            <a:ext cx="5760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DOMPDF-rendered QR-verified PDF certificates auto-generated upon final verification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/  NVQ VERIFICATION WORKFLOW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2011680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1005840"/>
            <a:ext cx="201168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1188720"/>
            <a:ext cx="594360" cy="5943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188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28600" y="190195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23042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Submits Assignment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28346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 with deadline enforcement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40280" y="2560320"/>
            <a:ext cx="210312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40280" y="2423160"/>
            <a:ext cx="210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450592" y="1005840"/>
            <a:ext cx="2011680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50592" y="1005840"/>
            <a:ext cx="201168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54680" y="1188720"/>
            <a:ext cx="594360" cy="5943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54680" y="1188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450592" y="190195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42032" y="23042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Submission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542032" y="28346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Rubric-based grading, marks pending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462272" y="2560320"/>
            <a:ext cx="210312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62272" y="2423160"/>
            <a:ext cx="210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72584" y="1005840"/>
            <a:ext cx="2011680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72584" y="1005840"/>
            <a:ext cx="201168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76672" y="1188720"/>
            <a:ext cx="594360" cy="5943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76672" y="1188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672584" y="190195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ASSESSOR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64024" y="23042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Grade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764024" y="28346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NVQ compliance check, approves/rejects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684264" y="2560320"/>
            <a:ext cx="210312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84264" y="2423160"/>
            <a:ext cx="210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894576" y="1005840"/>
            <a:ext cx="2011680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94576" y="1005840"/>
            <a:ext cx="2011680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598664" y="1188720"/>
            <a:ext cx="594360" cy="59436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98664" y="1188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894576" y="190195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986016" y="23042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986016" y="28346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QR-verified PDF issued to student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28600" y="4434840"/>
            <a:ext cx="8686800" cy="502920"/>
          </a:xfrm>
          <a:prstGeom prst="rect">
            <a:avLst/>
          </a:prstGeom>
          <a:solidFill>
            <a:srgbClr val="1B2B4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4348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States:   Pending  →  Graded  →  Assessor Reviewed  →  Verified  →  Certificate Issued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  DATABASE &amp; API DESIGN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Architecture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38988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Highly normalised RDBMS with foreign key constraints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77393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Pivot tables: course_user, module_user, enrollments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215798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Status enums: pending → graded → verified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54203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Audit trailing via verification_logs table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971800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Relationships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310128"/>
          <a:ext cx="41148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28016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Entity A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Bridge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Entity B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B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Users (1)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Enrollments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Courses (1)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Modules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Units/Lessons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Courses (1)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Assignments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Submissions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754880" y="914400"/>
            <a:ext cx="411480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54880" y="914400"/>
            <a:ext cx="41148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92040" y="10058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Communication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892040" y="1481328"/>
            <a:ext cx="54864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47488" y="14813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HTTP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047488" y="170078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 request-response via POST with CSRF tokens (Blade-injected)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892040" y="2121408"/>
            <a:ext cx="54864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47488" y="212140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Enhancement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047488" y="23408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+ Alpine.js (x-data, x-on) for micro-interactions without full page reloads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892040" y="2761488"/>
            <a:ext cx="54864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47488" y="276148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Completion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047488" y="29809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AJAX toggling via LessonProgress — instant UX without server round-trip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892040" y="3401568"/>
            <a:ext cx="54864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47488" y="34015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Validation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047488" y="36210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answer checking via Axios calls on submission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/  SECURITY &amp; TESTING STRATEGY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9601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Analysis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4114800" cy="667512"/>
          </a:xfrm>
          <a:prstGeom prst="rect">
            <a:avLst/>
          </a:prstGeom>
          <a:solidFill>
            <a:srgbClr val="1E293B"/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417320"/>
            <a:ext cx="54864" cy="66751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48132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" y="17373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 hashing — plain-text storage impossible via model casts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2194560"/>
            <a:ext cx="4114800" cy="667512"/>
          </a:xfrm>
          <a:prstGeom prst="rect">
            <a:avLst/>
          </a:prstGeom>
          <a:solidFill>
            <a:srgbClr val="1E293B"/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194560"/>
            <a:ext cx="54864" cy="66751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25856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Middleware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2514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boundaries enforced at route level — privilege escalation blocked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971800"/>
            <a:ext cx="4114800" cy="667512"/>
          </a:xfrm>
          <a:prstGeom prst="rect">
            <a:avLst/>
          </a:prstGeom>
          <a:solidFill>
            <a:srgbClr val="1E293B"/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971800"/>
            <a:ext cx="54864" cy="66751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30358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Sanitation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" y="32918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Eloquent prepared statements prevent SQL Injection &amp; XSS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749040"/>
            <a:ext cx="4114800" cy="667512"/>
          </a:xfrm>
          <a:prstGeom prst="rect">
            <a:avLst/>
          </a:prstGeom>
          <a:solidFill>
            <a:srgbClr val="1E293B"/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3749040"/>
            <a:ext cx="54864" cy="66751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381304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Integrity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" y="40690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codes link to unauthenticated verify route — forgery impossible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09160" y="9601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Strategy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709160" y="1417320"/>
            <a:ext cx="4114800" cy="987552"/>
          </a:xfrm>
          <a:prstGeom prst="rect">
            <a:avLst/>
          </a:prstGeom>
          <a:solidFill>
            <a:srgbClr val="1E293B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9160" y="1417320"/>
            <a:ext cx="54864" cy="9875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148132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0" y="17373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PHPUnit / Pest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46320" y="19476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logic — progress calculators, grade formulas, division-by-zero guards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09160" y="2514600"/>
            <a:ext cx="4114800" cy="987552"/>
          </a:xfrm>
          <a:prstGeom prst="rect">
            <a:avLst/>
          </a:prstGeom>
          <a:solidFill>
            <a:srgbClr val="1E293B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09160" y="2514600"/>
            <a:ext cx="54864" cy="9875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25786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/ Feature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46320" y="28346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Laravel Feature Tests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46320" y="30449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NVQ chain simulation: submit → grade → assess → verify in automated sequence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09160" y="3611880"/>
            <a:ext cx="4114800" cy="987552"/>
          </a:xfrm>
          <a:prstGeom prst="rect">
            <a:avLst/>
          </a:prstGeom>
          <a:solidFill>
            <a:srgbClr val="1E293B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09160" y="3611880"/>
            <a:ext cx="54864" cy="9875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367588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/ Browser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46320" y="39319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Laravel Dusk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46320" y="41422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Alpine.js interactions, modal triggers, Axios UI updates on lesson completion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/  IMPLEMENTATION ROADMAP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2025 – Apr 2026  ·  5 Phases  ·  6 Months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261872"/>
            <a:ext cx="8686800" cy="3337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8600" y="46634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Figure: IQBRAVE LMS Implementation Gantt Chart — Optimised for Monolithic Architecture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/  ROADMAP PHASES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8686800" cy="713232"/>
          </a:xfrm>
          <a:prstGeom prst="rect">
            <a:avLst/>
          </a:prstGeom>
          <a:solidFill>
            <a:srgbClr val="1E293B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914400"/>
            <a:ext cx="64008" cy="7132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00584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4048" y="128016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– Nov 2025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74520" y="1005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Planning &amp; Setup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37760" y="100584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Reverse-engineering · Requirements gathering · DB schema planning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1737360"/>
            <a:ext cx="8686800" cy="713232"/>
          </a:xfrm>
          <a:prstGeom prst="rect">
            <a:avLst/>
          </a:prstGeom>
          <a:solidFill>
            <a:srgbClr val="1E293B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1737360"/>
            <a:ext cx="64008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18288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4048" y="210312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2025 – Jan 2026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874520" y="1828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Core &amp; Performance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182880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Monolithic refactoring · Redis Queue · UI/UX enhancements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560320"/>
            <a:ext cx="8686800" cy="713232"/>
          </a:xfrm>
          <a:prstGeom prst="rect">
            <a:avLst/>
          </a:prstGeom>
          <a:solidFill>
            <a:srgbClr val="1E293B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2560320"/>
            <a:ext cx="64008" cy="7132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65176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84048" y="292608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– Mar 2026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74520" y="26517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 Layer &amp; Integration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265176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Redis caching · PDF optimisation · LTI scoping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8600" y="3383280"/>
            <a:ext cx="8686800" cy="713232"/>
          </a:xfrm>
          <a:prstGeom prst="rect">
            <a:avLst/>
          </a:prstGeom>
          <a:solidFill>
            <a:srgbClr val="1E293B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8600" y="3383280"/>
            <a:ext cx="64008" cy="7132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34747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84048" y="374904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– Apr 2026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874520" y="3474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QA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37760" y="347472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PHPUnit/Pest · Feature/Integration tests · Laravel Dusk E2E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28600" y="4206240"/>
            <a:ext cx="8686800" cy="713232"/>
          </a:xfrm>
          <a:prstGeom prst="rect">
            <a:avLst/>
          </a:prstGeom>
          <a:solidFill>
            <a:srgbClr val="1E293B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8600" y="4206240"/>
            <a:ext cx="64008" cy="7132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" y="429768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84048" y="457200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2026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874520" y="42976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Maintenance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37760" y="429768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&amp; final verification · Production go-live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/  STRENGTHS &amp; WEAKNESSES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43891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STRENGTHS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4114800" cy="1005840"/>
          </a:xfrm>
          <a:prstGeom prst="rect">
            <a:avLst/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417320"/>
            <a:ext cx="54864" cy="10058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813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Specificity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Uniquely addresses NVQ multi-tier verification — no off-the-shelf alternative matches this workflow.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560320"/>
            <a:ext cx="4114800" cy="1005840"/>
          </a:xfrm>
          <a:prstGeom prst="rect">
            <a:avLst/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560320"/>
            <a:ext cx="54864" cy="10058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243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Simplicity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9260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Cohesive monolith is far easier to deploy and maintain for small-to-mid scale institutions.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703320"/>
            <a:ext cx="4114800" cy="1005840"/>
          </a:xfrm>
          <a:prstGeom prst="rect">
            <a:avLst/>
          </a:prstGeom>
          <a:solidFill>
            <a:srgbClr val="DCFCE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3703320"/>
            <a:ext cx="54864" cy="10058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7673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ORM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0690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Eloquent pivot tables provide granular role &amp; permission flexibility without extra complexity.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914400"/>
            <a:ext cx="4114800" cy="43891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91440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 WEAKNESSES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54880" y="1417320"/>
            <a:ext cx="4114800" cy="1005840"/>
          </a:xfrm>
          <a:prstGeom prst="rect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1417320"/>
            <a:ext cx="54864" cy="10058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14813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 Bottlenecks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17830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certificate generation and bulk email notifications degrade performance under heavy load.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2560320"/>
            <a:ext cx="4114800" cy="1005840"/>
          </a:xfrm>
          <a:prstGeom prst="rect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2560320"/>
            <a:ext cx="54864" cy="10058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26243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Monolithic Scaling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37760" y="29260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application must be replicated as one unit — no independent module scaling possible.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3703320"/>
            <a:ext cx="4114800" cy="1005840"/>
          </a:xfrm>
          <a:prstGeom prst="rect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3703320"/>
            <a:ext cx="54864" cy="10058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37673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LTI Non-Compliance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937760" y="40690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integrate with third-party LMS tools or university ecosystems without LTI implementation.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/  RECOMMENDATIONS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60520" cy="1737360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416052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430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429000" y="1188720"/>
            <a:ext cx="868680" cy="292608"/>
          </a:xfrm>
          <a:prstGeom prst="rect">
            <a:avLst/>
          </a:prstGeom>
          <a:solidFill>
            <a:srgbClr val="2563EB">
              <a:alpha val="3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118872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727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Job Processing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96596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 PDF generation, emails &amp; heavy DB queries to Laravel Redis Queue — drastically improves response speed under load.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4160520" cy="173736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005840"/>
            <a:ext cx="416052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14300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909560" y="1188720"/>
            <a:ext cx="868680" cy="292608"/>
          </a:xfrm>
          <a:prstGeom prst="rect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09560" y="118872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92040" y="15727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Caching Layer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92040" y="196596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static curricular hierarchies (Courses, Modules) with Redis/Memcached — reduces DB queries and improves dashboard load times.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971800"/>
            <a:ext cx="4160520" cy="1737360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971800"/>
            <a:ext cx="416052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10896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429000" y="3154680"/>
            <a:ext cx="868680" cy="292608"/>
          </a:xfrm>
          <a:prstGeom prst="rect">
            <a:avLst/>
          </a:prstGeom>
          <a:solidFill>
            <a:srgbClr val="7C3AED">
              <a:alpha val="3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29000" y="315468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" y="35387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Extraction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11480" y="39319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business logic into RESTful / GraphQL API via Laravel Sanctum to enable a future Flutter or React Native mobile client.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2971800"/>
            <a:ext cx="4160520" cy="1737360"/>
          </a:xfrm>
          <a:prstGeom prst="rect">
            <a:avLst/>
          </a:prstGeom>
          <a:solidFill>
            <a:srgbClr val="1E293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2971800"/>
            <a:ext cx="416052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310896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909560" y="3154680"/>
            <a:ext cx="868680" cy="292608"/>
          </a:xfrm>
          <a:prstGeom prst="rect">
            <a:avLst/>
          </a:prstGeom>
          <a:solidFill>
            <a:srgbClr val="D97706">
              <a:alpha val="3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09560" y="315468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92040" y="35387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LTI Integration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92040" y="39319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LTI (Learning Tools Interoperability) standard to integrate with third-party tools and position IQBRAVE as enterprise-grade.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2563EB">
              <a:alpha val="12000"/>
            </a:srgbClr>
          </a:solidFill>
          <a:ln w="12700">
            <a:solidFill>
              <a:srgbClr val="2563EB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914400" y="3200400"/>
            <a:ext cx="2286000" cy="2286000"/>
          </a:xfrm>
          <a:prstGeom prst="ellipse">
            <a:avLst/>
          </a:prstGeom>
          <a:solidFill>
            <a:srgbClr val="38BDF8">
              <a:alpha val="15000"/>
            </a:srgbClr>
          </a:solidFill>
          <a:ln w="12700">
            <a:solidFill>
              <a:srgbClr val="38BDF8">
                <a:alpha val="1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IQBRAVE LMS is a highly competent, purpose-built vocational education platform.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natively accommodating a complex, multi-tiered NVQ assessment and verification workflow on top of a robust Laravel 12 MVC architecture, IQBRAVE is well-positioned for real-world institutional deployment. With the recommended enhancements — async queuing, caching, API extraction, and LTI compliance — the system is ready to evolve into a fully enterprise-grade, standards-compliant platform.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108960"/>
            <a:ext cx="2560320" cy="822960"/>
          </a:xfrm>
          <a:prstGeom prst="rect">
            <a:avLst/>
          </a:prstGeom>
          <a:solidFill>
            <a:srgbClr val="1B2B4B"/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12724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NVQ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35204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 Ready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3108960"/>
            <a:ext cx="2560320" cy="822960"/>
          </a:xfrm>
          <a:prstGeom prst="rect">
            <a:avLst/>
          </a:prstGeom>
          <a:solidFill>
            <a:srgbClr val="1B2B4B"/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312724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291840" y="35204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+ Bcrypt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3108960"/>
            <a:ext cx="2560320" cy="822960"/>
          </a:xfrm>
          <a:prstGeom prst="rect">
            <a:avLst/>
          </a:prstGeom>
          <a:solidFill>
            <a:srgbClr val="1B2B4B"/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312724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Extensible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126480" y="35204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API-Ready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0" y="4187952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H.M.S.J. Herath  ·  Academic Year 2024–2025  ·  24 March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IQBRAVE LMS — Project Progress Presentation</dc:title>
  <dc:subject>PptxGenJS Presentation</dc:subject>
  <dc:creator>H.M.S.J. Herath</dc:creator>
  <cp:lastModifiedBy>H.M.S.J. Herath</cp:lastModifiedBy>
  <cp:revision>1</cp:revision>
  <dcterms:created xsi:type="dcterms:W3CDTF">2026-03-25T11:13:35Z</dcterms:created>
  <dcterms:modified xsi:type="dcterms:W3CDTF">2026-03-25T11:13:35Z</dcterms:modified>
</cp:coreProperties>
</file>